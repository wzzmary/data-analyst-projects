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5" r:id="rId3"/>
    <p:sldId id="272" r:id="rId4"/>
    <p:sldId id="264" r:id="rId5"/>
    <p:sldId id="263" r:id="rId6"/>
    <p:sldId id="258" r:id="rId7"/>
    <p:sldId id="266" r:id="rId8"/>
    <p:sldId id="259" r:id="rId9"/>
    <p:sldId id="268" r:id="rId10"/>
    <p:sldId id="267" r:id="rId11"/>
    <p:sldId id="271" r:id="rId12"/>
    <p:sldId id="275" r:id="rId13"/>
    <p:sldId id="27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  <a:srgbClr val="EFE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17B647-B248-B20C-1A30-8E2215BAA43E}" v="27" dt="2025-12-16T13:14:44.371"/>
    <p1510:client id="{2112C43A-7704-0A46-BCA0-B7548E4DFC48}" v="2963" dt="2025-12-16T20:50:10.515"/>
    <p1510:client id="{3A369358-A4BE-D551-1B33-0F9963533C2A}" v="438" dt="2025-12-16T18:48:37.425"/>
    <p1510:client id="{3DBB1FCB-2726-6101-7977-E69DDA9920A6}" v="93" dt="2025-12-16T13:52:46.909"/>
    <p1510:client id="{51CEC01C-AF2F-8C2A-A534-5781D4A3610A}" v="215" dt="2025-12-16T20:47:42.013"/>
    <p1510:client id="{680CB3E3-7353-6D88-3E4D-59DF414E8AB5}" v="9" dt="2025-12-16T18:59:50.771"/>
    <p1510:client id="{995B1420-869A-7190-3FBC-0D9FA1E86564}" v="48" dt="2025-12-16T19:49:04.401"/>
    <p1510:client id="{A9FA3649-48F2-5748-97BD-5C4D6300987C}" v="293" dt="2025-12-16T18:44:48.975"/>
    <p1510:client id="{BD355D4F-FC4C-41EF-FDEF-1A4A67214B49}" v="19" dt="2025-12-16T16:15:46.438"/>
    <p1510:client id="{CC23B863-EE42-4AB5-6531-190303ED55B1}" v="38" dt="2025-12-16T18:03:35.4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22"/>
    <p:restoredTop sz="94575"/>
  </p:normalViewPr>
  <p:slideViewPr>
    <p:cSldViewPr snapToGrid="0">
      <p:cViewPr>
        <p:scale>
          <a:sx n="76" d="100"/>
          <a:sy n="76" d="100"/>
        </p:scale>
        <p:origin x="3352" y="1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12/16/25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12/16/25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12/16/25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709ADC9-6EAF-4268-9415-1ED5ECFA2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(</a:t>
            </a:r>
          </a:p>
        </p:txBody>
      </p:sp>
      <p:pic>
        <p:nvPicPr>
          <p:cNvPr id="5" name="Picture 4" descr="Mètre ruban sur une table">
            <a:extLst>
              <a:ext uri="{FF2B5EF4-FFF2-40B4-BE49-F238E27FC236}">
                <a16:creationId xmlns:a16="http://schemas.microsoft.com/office/drawing/2014/main" id="{D3B41E02-1144-F098-9AAC-C6A7F8AF7B3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7865" b="786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E50556D-56AB-DC30-582B-4BE7C2A4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  <a:solidFill>
            <a:srgbClr val="1E1E1E">
              <a:alpha val="47231"/>
            </a:srgb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fr-CH" sz="3400" b="1" u="sng" dirty="0">
                <a:solidFill>
                  <a:schemeClr val="tx1"/>
                </a:solidFill>
                <a:latin typeface="Arial Hebrew" pitchFamily="2" charset="-79"/>
                <a:cs typeface="Arial Hebrew"/>
              </a:rPr>
              <a:t>Quel est </a:t>
            </a:r>
            <a:r>
              <a:rPr lang="fr-CH" sz="3400" b="1" u="sng" dirty="0" err="1">
                <a:solidFill>
                  <a:schemeClr val="tx1"/>
                </a:solidFill>
                <a:latin typeface="Arial Hebrew" pitchFamily="2" charset="-79"/>
                <a:cs typeface="Arial Hebrew"/>
              </a:rPr>
              <a:t>lE</a:t>
            </a:r>
            <a:r>
              <a:rPr lang="fr-CH" sz="3400" b="1" u="sng" dirty="0">
                <a:solidFill>
                  <a:schemeClr val="tx1"/>
                </a:solidFill>
                <a:latin typeface="Arial Hebrew" pitchFamily="2" charset="-79"/>
                <a:cs typeface="Arial Hebrew"/>
              </a:rPr>
              <a:t> STATUT d’obésité des femmes d’Amérique latine et quels facteurs sont associés à leur risque ?</a:t>
            </a:r>
            <a:endParaRPr lang="fr-FR" sz="3400" b="1" u="sng" dirty="0">
              <a:solidFill>
                <a:schemeClr val="tx1"/>
              </a:solidFill>
              <a:latin typeface="Arial Hebrew" pitchFamily="2" charset="-79"/>
              <a:cs typeface="Arial Hebrew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845B02D-2AE6-DCAB-C846-A25766D8F8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3600" b="1"/>
              <a:t>Groupe : Dent blanche </a:t>
            </a:r>
          </a:p>
        </p:txBody>
      </p:sp>
    </p:spTree>
    <p:extLst>
      <p:ext uri="{BB962C8B-B14F-4D97-AF65-F5344CB8AC3E}">
        <p14:creationId xmlns:p14="http://schemas.microsoft.com/office/powerpoint/2010/main" val="42529337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8A3E6-BF57-7F25-14E7-A4B5103B4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F85288-4529-45D3-35DD-C2D5EC8A9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1703916"/>
            <a:ext cx="8361229" cy="695245"/>
          </a:xfrm>
        </p:spPr>
        <p:txBody>
          <a:bodyPr/>
          <a:lstStyle/>
          <a:p>
            <a:r>
              <a:rPr lang="fr-FR" b="1" u="sng" dirty="0">
                <a:latin typeface="Boucherie Block" panose="02000506000000020004" pitchFamily="2" charset="77"/>
              </a:rPr>
              <a:t>INTRODUCTION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23C4DC90-EB06-A54E-AD9B-6A24341CB569}"/>
              </a:ext>
            </a:extLst>
          </p:cNvPr>
          <p:cNvSpPr txBox="1">
            <a:spLocks/>
          </p:cNvSpPr>
          <p:nvPr/>
        </p:nvSpPr>
        <p:spPr>
          <a:xfrm>
            <a:off x="1295399" y="2399161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3540" indent="-383540" algn="l">
              <a:buFont typeface="Wingdings" pitchFamily="2" charset="2"/>
              <a:buChar char="§"/>
            </a:pPr>
            <a:r>
              <a:rPr lang="fr-FR" sz="2200" dirty="0">
                <a:latin typeface="Arial Hebrew" pitchFamily="2" charset="-79"/>
                <a:cs typeface="Arial Hebrew" pitchFamily="2" charset="-79"/>
              </a:rPr>
              <a:t>L'</a:t>
            </a:r>
            <a:r>
              <a:rPr lang="fr-FR" sz="2200" dirty="0" err="1">
                <a:latin typeface="Arial Hebrew" pitchFamily="2" charset="-79"/>
                <a:cs typeface="Arial Hebrew" pitchFamily="2" charset="-79"/>
              </a:rPr>
              <a:t>obesité</a:t>
            </a:r>
            <a:r>
              <a:rPr lang="fr-FR" sz="2200" dirty="0">
                <a:latin typeface="Arial Hebrew" pitchFamily="2" charset="-79"/>
                <a:cs typeface="Arial Hebrew" pitchFamily="2" charset="-79"/>
              </a:rPr>
              <a:t>, problème majeur de santé publique</a:t>
            </a:r>
          </a:p>
          <a:p>
            <a:pPr marL="383540" indent="-383540" algn="l">
              <a:buFont typeface="Wingdings" pitchFamily="2" charset="2"/>
              <a:buChar char="§"/>
            </a:pPr>
            <a:r>
              <a:rPr lang="fr-FR" sz="2200" dirty="0">
                <a:latin typeface="Arial Hebrew" pitchFamily="2" charset="-79"/>
                <a:cs typeface="Arial Hebrew" pitchFamily="2" charset="-79"/>
              </a:rPr>
              <a:t>Les femmes sont plus sujettes à cette problématique</a:t>
            </a:r>
          </a:p>
          <a:p>
            <a:pPr algn="l"/>
            <a:endParaRPr lang="fr-FR" sz="2200" dirty="0">
              <a:latin typeface="Arial Hebrew" pitchFamily="2" charset="-79"/>
              <a:cs typeface="Arial Hebrew" pitchFamily="2" charset="-79"/>
            </a:endParaRPr>
          </a:p>
          <a:p>
            <a:r>
              <a:rPr lang="fr-FR" sz="2200" b="1" dirty="0">
                <a:latin typeface="Arial Hebrew" pitchFamily="2" charset="-79"/>
                <a:cs typeface="Arial Hebrew" pitchFamily="2" charset="-79"/>
              </a:rPr>
              <a:t>Nous cherchons à voir la situation d'obésité des femmes d'Amérique latine et les facteurs pouvant y être associés. </a:t>
            </a:r>
          </a:p>
          <a:p>
            <a:pPr algn="l"/>
            <a:endParaRPr lang="fr-FR" sz="2200" b="1" dirty="0">
              <a:latin typeface="Arial Hebrew" pitchFamily="2" charset="-79"/>
              <a:cs typeface="Arial Hebrew" pitchFamily="2" charset="-79"/>
            </a:endParaRPr>
          </a:p>
          <a:p>
            <a:pPr marL="383540" indent="-383540" algn="l">
              <a:buFont typeface="Wingdings" pitchFamily="2" charset="2"/>
              <a:buChar char="§"/>
            </a:pPr>
            <a:r>
              <a:rPr lang="fr-FR" sz="2200" dirty="0">
                <a:latin typeface="Arial Hebrew" pitchFamily="2" charset="-79"/>
                <a:cs typeface="Arial Hebrew" pitchFamily="2" charset="-79"/>
              </a:rPr>
              <a:t>Trois hypothèses permettant notre analyse grâce à l’utilisation des Statistiques inférentielles. </a:t>
            </a:r>
            <a:endParaRPr lang="fr-FR" sz="2200" b="1" dirty="0">
              <a:latin typeface="Arial Hebrew" pitchFamily="2" charset="-79"/>
              <a:cs typeface="Arial Hebrew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148939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ED4C5212-09DC-53F5-3CD3-E47AE4BF8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1930" y="1582115"/>
            <a:ext cx="8095146" cy="1269370"/>
          </a:xfrm>
        </p:spPr>
        <p:txBody>
          <a:bodyPr/>
          <a:lstStyle/>
          <a:p>
            <a:r>
              <a:rPr lang="fr-CH" b="1" u="sng" err="1">
                <a:solidFill>
                  <a:schemeClr val="tx1"/>
                </a:solidFill>
                <a:latin typeface="Boucherie Block"/>
                <a:cs typeface="Arial Hebrew"/>
              </a:rPr>
              <a:t>Recolte</a:t>
            </a:r>
            <a:r>
              <a:rPr lang="fr-CH" b="1" u="sng">
                <a:solidFill>
                  <a:schemeClr val="tx1"/>
                </a:solidFill>
                <a:latin typeface="Boucherie Block"/>
                <a:cs typeface="Arial Hebrew"/>
              </a:rPr>
              <a:t> DE DONNÉES </a:t>
            </a:r>
            <a:endParaRPr lang="fr-FR" b="1" u="sng">
              <a:solidFill>
                <a:schemeClr val="tx1"/>
              </a:solidFill>
              <a:latin typeface="Boucherie Block"/>
              <a:cs typeface="Arial Hebrew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396D7C4-593B-7740-922D-1380B8444A92}"/>
              </a:ext>
            </a:extLst>
          </p:cNvPr>
          <p:cNvSpPr txBox="1"/>
          <p:nvPr/>
        </p:nvSpPr>
        <p:spPr>
          <a:xfrm>
            <a:off x="2099534" y="3046219"/>
            <a:ext cx="7507542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>
                <a:latin typeface="Arial Hebrew" pitchFamily="2" charset="-79"/>
                <a:cs typeface="Arial Hebrew" pitchFamily="2" charset="-79"/>
              </a:rPr>
              <a:t>•</a:t>
            </a:r>
            <a:r>
              <a:rPr lang="fr-FR" b="1" dirty="0">
                <a:latin typeface="Arial Hebrew" pitchFamily="2" charset="-79"/>
                <a:cs typeface="Arial Hebrew" pitchFamily="2" charset="-79"/>
              </a:rPr>
              <a:t>⁠  ⁠Source </a:t>
            </a:r>
            <a:r>
              <a:rPr lang="fr-FR" dirty="0">
                <a:latin typeface="Arial Hebrew" pitchFamily="2" charset="-79"/>
                <a:cs typeface="Arial Hebrew" pitchFamily="2" charset="-79"/>
              </a:rPr>
              <a:t>: </a:t>
            </a:r>
            <a:r>
              <a:rPr lang="fr-FR" dirty="0" err="1">
                <a:latin typeface="Arial Hebrew" pitchFamily="2" charset="-79"/>
                <a:cs typeface="Arial Hebrew" pitchFamily="2" charset="-79"/>
              </a:rPr>
              <a:t>Kaggle</a:t>
            </a:r>
            <a:r>
              <a:rPr lang="fr-FR" dirty="0">
                <a:latin typeface="Arial Hebrew" pitchFamily="2" charset="-79"/>
                <a:cs typeface="Arial Hebrew" pitchFamily="2" charset="-79"/>
              </a:rPr>
              <a:t>- </a:t>
            </a:r>
            <a:r>
              <a:rPr lang="fr-FR" dirty="0" err="1">
                <a:latin typeface="Arial Hebrew" pitchFamily="2" charset="-79"/>
                <a:cs typeface="Arial Hebrew" pitchFamily="2" charset="-79"/>
              </a:rPr>
              <a:t>Obesity</a:t>
            </a:r>
            <a:r>
              <a:rPr lang="fr-FR" dirty="0">
                <a:latin typeface="Arial Hebrew" pitchFamily="2" charset="-79"/>
                <a:cs typeface="Arial Hebrew" pitchFamily="2" charset="-79"/>
              </a:rPr>
              <a:t> </a:t>
            </a:r>
            <a:r>
              <a:rPr lang="fr-FR" dirty="0" err="1">
                <a:latin typeface="Arial Hebrew" pitchFamily="2" charset="-79"/>
                <a:cs typeface="Arial Hebrew" pitchFamily="2" charset="-79"/>
              </a:rPr>
              <a:t>Prediction</a:t>
            </a:r>
            <a:r>
              <a:rPr lang="fr-FR" dirty="0">
                <a:latin typeface="Arial Hebrew" pitchFamily="2" charset="-79"/>
                <a:cs typeface="Arial Hebrew" pitchFamily="2" charset="-79"/>
              </a:rPr>
              <a:t> </a:t>
            </a:r>
            <a:r>
              <a:rPr lang="fr-FR" dirty="0" err="1">
                <a:latin typeface="Arial Hebrew" pitchFamily="2" charset="-79"/>
                <a:cs typeface="Arial Hebrew" pitchFamily="2" charset="-79"/>
              </a:rPr>
              <a:t>Dataset</a:t>
            </a:r>
            <a:endParaRPr lang="fr-FR" dirty="0">
              <a:latin typeface="Arial Hebrew" pitchFamily="2" charset="-79"/>
              <a:cs typeface="Arial Hebrew" pitchFamily="2" charset="-79"/>
            </a:endParaRPr>
          </a:p>
          <a:p>
            <a:endParaRPr lang="fr-FR" dirty="0">
              <a:latin typeface="Arial Hebrew" pitchFamily="2" charset="-79"/>
              <a:cs typeface="Arial Hebrew" pitchFamily="2" charset="-79"/>
            </a:endParaRPr>
          </a:p>
          <a:p>
            <a:r>
              <a:rPr lang="fr-FR" dirty="0">
                <a:latin typeface="Arial Hebrew" pitchFamily="2" charset="-79"/>
                <a:cs typeface="Arial Hebrew" pitchFamily="2" charset="-79"/>
              </a:rPr>
              <a:t>•⁠  ⁠</a:t>
            </a:r>
            <a:r>
              <a:rPr lang="fr-FR" b="1" dirty="0">
                <a:latin typeface="Arial Hebrew" pitchFamily="2" charset="-79"/>
                <a:cs typeface="Arial Hebrew" pitchFamily="2" charset="-79"/>
              </a:rPr>
              <a:t>Pays concernés </a:t>
            </a:r>
            <a:r>
              <a:rPr lang="fr-FR" dirty="0">
                <a:latin typeface="Arial Hebrew" pitchFamily="2" charset="-79"/>
                <a:cs typeface="Arial Hebrew" pitchFamily="2" charset="-79"/>
              </a:rPr>
              <a:t>: Colombie, Mexique, Pérou</a:t>
            </a:r>
          </a:p>
          <a:p>
            <a:pPr marL="285750" indent="-285750">
              <a:buFontTx/>
              <a:buChar char="-"/>
            </a:pPr>
            <a:endParaRPr lang="fr-FR" dirty="0">
              <a:latin typeface="Arial Hebrew" pitchFamily="2" charset="-79"/>
              <a:cs typeface="Arial Hebrew" pitchFamily="2" charset="-79"/>
            </a:endParaRPr>
          </a:p>
          <a:p>
            <a:r>
              <a:rPr lang="fr-FR" b="1" dirty="0">
                <a:latin typeface="Arial Hebrew" pitchFamily="2" charset="-79"/>
                <a:cs typeface="Arial Hebrew" pitchFamily="2" charset="-79"/>
              </a:rPr>
              <a:t>•⁠  ⁠Base de données brute filtrée </a:t>
            </a:r>
            <a:r>
              <a:rPr lang="fr-FR" dirty="0">
                <a:latin typeface="Arial Hebrew" pitchFamily="2" charset="-79"/>
                <a:cs typeface="Arial Hebrew" pitchFamily="2" charset="-79"/>
              </a:rPr>
              <a:t>: femmes uniquement</a:t>
            </a:r>
          </a:p>
          <a:p>
            <a:pPr marL="285750" indent="-285750">
              <a:buFontTx/>
              <a:buChar char="-"/>
            </a:pPr>
            <a:endParaRPr lang="fr-FR" dirty="0">
              <a:latin typeface="Arial Hebrew" pitchFamily="2" charset="-79"/>
              <a:cs typeface="Arial Hebrew" pitchFamily="2" charset="-79"/>
            </a:endParaRPr>
          </a:p>
          <a:p>
            <a:r>
              <a:rPr lang="fr-FR" b="1" dirty="0">
                <a:latin typeface="Arial Hebrew" pitchFamily="2" charset="-79"/>
                <a:cs typeface="Arial Hebrew" pitchFamily="2" charset="-79"/>
              </a:rPr>
              <a:t>•⁠  ⁠Échantillon d’analyse : </a:t>
            </a:r>
            <a:r>
              <a:rPr lang="fr-FR" dirty="0">
                <a:latin typeface="Arial Hebrew" pitchFamily="2" charset="-79"/>
                <a:cs typeface="Arial Hebrew" pitchFamily="2" charset="-79"/>
              </a:rPr>
              <a:t>1043 femmes </a:t>
            </a:r>
          </a:p>
          <a:p>
            <a:pPr marL="285750" indent="-285750">
              <a:buFontTx/>
              <a:buChar char="-"/>
            </a:pPr>
            <a:endParaRPr lang="fr-FR" dirty="0">
              <a:latin typeface="Arial Hebrew" pitchFamily="2" charset="-79"/>
              <a:cs typeface="Arial Hebrew" pitchFamily="2" charset="-79"/>
            </a:endParaRPr>
          </a:p>
          <a:p>
            <a:r>
              <a:rPr lang="fr-FR" b="1" dirty="0">
                <a:latin typeface="Arial Hebrew" pitchFamily="2" charset="-79"/>
                <a:cs typeface="Arial Hebrew" pitchFamily="2" charset="-79"/>
              </a:rPr>
              <a:t>- Données utilisées pour les tests d’hypothèses</a:t>
            </a:r>
          </a:p>
        </p:txBody>
      </p:sp>
    </p:spTree>
    <p:extLst>
      <p:ext uri="{BB962C8B-B14F-4D97-AF65-F5344CB8AC3E}">
        <p14:creationId xmlns:p14="http://schemas.microsoft.com/office/powerpoint/2010/main" val="1081004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D4C35-E922-F03B-ECFA-CFA358E97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CB3F83-C603-B272-7C8F-D66A9ADF5B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29000"/>
            <a:ext cx="12378131" cy="347623"/>
          </a:xfrm>
        </p:spPr>
        <p:txBody>
          <a:bodyPr/>
          <a:lstStyle/>
          <a:p>
            <a:r>
              <a:rPr lang="fr-CH" sz="6000" b="1" u="sng" dirty="0">
                <a:latin typeface="Boucherie Block" panose="02000506000000020004" pitchFamily="2" charset="77"/>
              </a:rPr>
              <a:t>présentation des variables </a:t>
            </a:r>
            <a:endParaRPr lang="fr-FR" sz="6000" b="1" u="sng" dirty="0">
              <a:latin typeface="Boucherie Block" panose="02000506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79331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61D8973-EAA9-459A-AF59-BBB4233D6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351458E-20C1-E17E-1593-22530B13C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093" y="240946"/>
            <a:ext cx="5793475" cy="1485900"/>
          </a:xfrm>
        </p:spPr>
        <p:txBody>
          <a:bodyPr>
            <a:normAutofit/>
          </a:bodyPr>
          <a:lstStyle/>
          <a:p>
            <a:r>
              <a:rPr lang="fr-FR" sz="3400" b="1" u="sng" dirty="0">
                <a:latin typeface="Boucherie Block" panose="02000506000000020004" pitchFamily="2" charset="77"/>
              </a:rPr>
              <a:t>VARIABLE PRINCIPALE :</a:t>
            </a:r>
            <a:r>
              <a:rPr lang="fr-FR" sz="3400" b="1" dirty="0">
                <a:latin typeface="Boucherie Block" panose="02000506000000020004" pitchFamily="2" charset="77"/>
              </a:rPr>
              <a:t> </a:t>
            </a:r>
            <a:r>
              <a:rPr lang="fr-CH" sz="3400" b="1" dirty="0"/>
              <a:t>niveau d’IMC (</a:t>
            </a:r>
            <a:r>
              <a:rPr lang="fr-CH" sz="3400" b="1" dirty="0" err="1"/>
              <a:t>imc_level</a:t>
            </a:r>
            <a:r>
              <a:rPr lang="fr-CH" sz="3400" b="1" dirty="0"/>
              <a:t>)</a:t>
            </a:r>
            <a:br>
              <a:rPr lang="fr-CH" sz="3400" dirty="0"/>
            </a:br>
            <a:endParaRPr lang="fr-FR" sz="3400" b="1" u="sng" dirty="0">
              <a:latin typeface="Boucherie Block" panose="02000506000000020004" pitchFamily="2" charset="77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B5F661-4B37-5723-2113-CD20686C2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485" y="1405555"/>
            <a:ext cx="5793475" cy="24569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fr-CH">
                <a:latin typeface="Arial"/>
                <a:cs typeface="Arial Hebrew"/>
              </a:rPr>
              <a:t>IMC calculé à partir du poids et de la taille</a:t>
            </a:r>
            <a:endParaRPr lang="fr-FR">
              <a:latin typeface="Arial"/>
              <a:cs typeface="Arial Hebrew"/>
            </a:endParaRPr>
          </a:p>
          <a:p>
            <a:pPr marL="383540" indent="-383540"/>
            <a:r>
              <a:rPr lang="fr-CH">
                <a:latin typeface="Arial"/>
                <a:cs typeface="Arial Hebrew"/>
              </a:rPr>
              <a:t>Classé en 8 niveaux (0 à 7)</a:t>
            </a:r>
          </a:p>
          <a:p>
            <a:pPr marL="383540" indent="-383540"/>
            <a:r>
              <a:rPr lang="fr-CH">
                <a:latin typeface="Arial"/>
                <a:cs typeface="Arial Hebrew"/>
              </a:rPr>
              <a:t>Regroupement en deux catégories :</a:t>
            </a:r>
          </a:p>
          <a:p>
            <a:pPr lvl="1" indent="-383540"/>
            <a:r>
              <a:rPr lang="fr-CH">
                <a:latin typeface="Arial"/>
                <a:cs typeface="Arial Hebrew"/>
              </a:rPr>
              <a:t>Non obèses : niveaux 0 à 3</a:t>
            </a:r>
          </a:p>
          <a:p>
            <a:pPr lvl="1" indent="-383540"/>
            <a:r>
              <a:rPr lang="fr-CH">
                <a:latin typeface="Arial"/>
                <a:cs typeface="Arial Hebrew"/>
              </a:rPr>
              <a:t>Obèses : niveaux 4 à 7</a:t>
            </a:r>
          </a:p>
          <a:p>
            <a:pPr marL="383540" indent="-383540"/>
            <a:r>
              <a:rPr lang="fr-CH">
                <a:latin typeface="Arial"/>
                <a:cs typeface="Arial Hebrew"/>
              </a:rPr>
              <a:t>Environ 69 % des femmes sont obèses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EA8A33-C0D0-416D-8359-724B8828C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661" y="0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90D9536-BEDD-DBAD-8FB3-62F40B57CD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2028" r="3193" b="3387"/>
          <a:stretch>
            <a:fillRect/>
          </a:stretch>
        </p:blipFill>
        <p:spPr>
          <a:xfrm>
            <a:off x="8404979" y="133189"/>
            <a:ext cx="2490329" cy="2365501"/>
          </a:xfrm>
          <a:prstGeom prst="rect">
            <a:avLst/>
          </a:prstGeom>
        </p:spPr>
      </p:pic>
      <p:pic>
        <p:nvPicPr>
          <p:cNvPr id="6" name="Image 5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7380FD10-B02A-A8B1-4B8D-3BC50B7DA2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038" r="3179" b="2690"/>
          <a:stretch>
            <a:fillRect/>
          </a:stretch>
        </p:blipFill>
        <p:spPr>
          <a:xfrm>
            <a:off x="8247295" y="2894595"/>
            <a:ext cx="2805696" cy="3049187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16D28D87-D4CF-FFFD-8544-70C3B9116EF9}"/>
              </a:ext>
            </a:extLst>
          </p:cNvPr>
          <p:cNvSpPr txBox="1"/>
          <p:nvPr/>
        </p:nvSpPr>
        <p:spPr>
          <a:xfrm>
            <a:off x="7612261" y="2546274"/>
            <a:ext cx="4675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1200" b="1" dirty="0">
                <a:latin typeface="Arial Hebrew" pitchFamily="2" charset="-79"/>
                <a:cs typeface="Arial Hebrew" pitchFamily="2" charset="-79"/>
              </a:rPr>
              <a:t>Figure 1 : Diagramme de la variable principale – niveau d’IMC</a:t>
            </a:r>
            <a:endParaRPr lang="fr-FR" altLang="fr-FR" sz="1200" dirty="0">
              <a:latin typeface="Arial Hebrew" pitchFamily="2" charset="-79"/>
              <a:cs typeface="Arial Hebrew" pitchFamily="2" charset="-79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78B5797-5066-96CA-A6C2-1023B57D03BF}"/>
              </a:ext>
            </a:extLst>
          </p:cNvPr>
          <p:cNvSpPr txBox="1"/>
          <p:nvPr/>
        </p:nvSpPr>
        <p:spPr>
          <a:xfrm>
            <a:off x="7926086" y="6119336"/>
            <a:ext cx="43705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b="1" dirty="0">
                <a:latin typeface="Arial Hebrew" pitchFamily="2" charset="-79"/>
                <a:cs typeface="Arial Hebrew" pitchFamily="2" charset="-79"/>
              </a:rPr>
              <a:t>Figure 2 : Diagramme de la variable principale – statut d’obésité pour les deux sous-groupes (</a:t>
            </a:r>
            <a:r>
              <a:rPr lang="fr-CH" sz="1200" b="1" dirty="0" err="1">
                <a:latin typeface="Arial Hebrew" pitchFamily="2" charset="-79"/>
                <a:cs typeface="Arial Hebrew" pitchFamily="2" charset="-79"/>
              </a:rPr>
              <a:t>obesity_level</a:t>
            </a:r>
            <a:r>
              <a:rPr lang="fr-CH" sz="1200" b="1" dirty="0">
                <a:latin typeface="Arial Hebrew" pitchFamily="2" charset="-79"/>
                <a:cs typeface="Arial Hebrew" pitchFamily="2" charset="-79"/>
              </a:rPr>
              <a:t>)</a:t>
            </a:r>
            <a:endParaRPr lang="fr-FR" altLang="fr-FR" sz="1200" b="1" dirty="0">
              <a:latin typeface="Arial Hebrew" pitchFamily="2" charset="-79"/>
              <a:cs typeface="Arial Hebrew" pitchFamily="2" charset="-79"/>
            </a:endParaRPr>
          </a:p>
          <a:p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E2E0107C-3E0A-2EE9-F895-AF0A7E072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329" y="3857191"/>
            <a:ext cx="5348697" cy="275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976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02F2DF-E114-7CE9-5B1B-75A556338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743" y="685800"/>
            <a:ext cx="5793475" cy="1485900"/>
          </a:xfrm>
        </p:spPr>
        <p:txBody>
          <a:bodyPr>
            <a:normAutofit/>
          </a:bodyPr>
          <a:lstStyle/>
          <a:p>
            <a:r>
              <a:rPr lang="fr-FR" b="1" u="sng">
                <a:latin typeface="Boucherie Block" panose="02000506000000020004" pitchFamily="2" charset="77"/>
              </a:rPr>
              <a:t>variables ASSOCIATIVES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45D240-7814-6CC7-F676-43CFF6B17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743" y="2015067"/>
            <a:ext cx="6496208" cy="35814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83540" indent="-383540"/>
            <a:r>
              <a:rPr lang="fr-CH" b="1" err="1">
                <a:latin typeface="Arial"/>
                <a:cs typeface="Arial Hebrew"/>
              </a:rPr>
              <a:t>age</a:t>
            </a:r>
            <a:r>
              <a:rPr lang="fr-CH" b="1">
                <a:latin typeface="Arial"/>
                <a:cs typeface="Arial Hebrew"/>
              </a:rPr>
              <a:t> :</a:t>
            </a:r>
          </a:p>
          <a:p>
            <a:pPr lvl="1" indent="-383540"/>
            <a:r>
              <a:rPr lang="fr-CH">
                <a:latin typeface="Arial"/>
                <a:cs typeface="Arial Hebrew"/>
              </a:rPr>
              <a:t>Variable quantitative continue (en années)</a:t>
            </a:r>
          </a:p>
          <a:p>
            <a:pPr marL="530225" lvl="1" indent="0">
              <a:buNone/>
            </a:pPr>
            <a:endParaRPr lang="fr-CH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3540" indent="-383540"/>
            <a:r>
              <a:rPr lang="fr-CH" b="1">
                <a:latin typeface="Arial"/>
                <a:cs typeface="Arial Hebrew"/>
              </a:rPr>
              <a:t>Activité physique (pal) :</a:t>
            </a:r>
          </a:p>
          <a:p>
            <a:pPr lvl="1" indent="-383540"/>
            <a:r>
              <a:rPr lang="fr-CH">
                <a:latin typeface="Arial"/>
                <a:cs typeface="Arial Hebrew"/>
              </a:rPr>
              <a:t>Fréquence de l’activité physique</a:t>
            </a:r>
          </a:p>
          <a:p>
            <a:pPr lvl="1" indent="-383540"/>
            <a:r>
              <a:rPr lang="fr-CH">
                <a:latin typeface="Arial"/>
                <a:cs typeface="Arial Hebrew"/>
              </a:rPr>
              <a:t> 0 = no </a:t>
            </a:r>
            <a:r>
              <a:rPr lang="fr-CH" err="1">
                <a:latin typeface="Arial"/>
                <a:cs typeface="Arial Hebrew"/>
              </a:rPr>
              <a:t>activity</a:t>
            </a:r>
            <a:r>
              <a:rPr lang="fr-CH">
                <a:latin typeface="Arial"/>
                <a:cs typeface="Arial Hebrew"/>
              </a:rPr>
              <a:t> ; ]0,1] = </a:t>
            </a:r>
            <a:r>
              <a:rPr lang="fr-CH" err="1">
                <a:latin typeface="Arial"/>
                <a:cs typeface="Arial Hebrew"/>
              </a:rPr>
              <a:t>low</a:t>
            </a:r>
            <a:r>
              <a:rPr lang="fr-CH">
                <a:latin typeface="Arial"/>
                <a:cs typeface="Arial Hebrew"/>
              </a:rPr>
              <a:t> ; ]1,2] = </a:t>
            </a:r>
            <a:r>
              <a:rPr lang="fr-CH" err="1">
                <a:latin typeface="Arial"/>
                <a:cs typeface="Arial Hebrew"/>
              </a:rPr>
              <a:t>moderate</a:t>
            </a:r>
            <a:r>
              <a:rPr lang="fr-CH">
                <a:latin typeface="Arial"/>
                <a:cs typeface="Arial Hebrew"/>
              </a:rPr>
              <a:t> ; ]2,3] = </a:t>
            </a:r>
            <a:r>
              <a:rPr lang="fr-CH" err="1">
                <a:latin typeface="Arial"/>
                <a:cs typeface="Arial Hebrew"/>
              </a:rPr>
              <a:t>frequent</a:t>
            </a:r>
            <a:r>
              <a:rPr lang="fr-CH">
                <a:latin typeface="Arial"/>
                <a:cs typeface="Arial Hebrew"/>
              </a:rPr>
              <a:t> </a:t>
            </a:r>
          </a:p>
          <a:p>
            <a:pPr lvl="1" indent="-383540"/>
            <a:endParaRPr lang="fr-CH" i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0225" lvl="1" indent="0">
              <a:buNone/>
            </a:pPr>
            <a:endParaRPr lang="fr-CH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3540" indent="-383540"/>
            <a:r>
              <a:rPr lang="fr-CH" b="1">
                <a:latin typeface="Arial"/>
                <a:cs typeface="Arial Hebrew"/>
              </a:rPr>
              <a:t>Ces variables sont étudiées comme facteurs potentiellement associés à l’obésité</a:t>
            </a:r>
          </a:p>
          <a:p>
            <a:pPr marL="383540" indent="-383540"/>
            <a:endParaRPr lang="fr-FR"/>
          </a:p>
        </p:txBody>
      </p:sp>
      <p:pic>
        <p:nvPicPr>
          <p:cNvPr id="10" name="Image 9" descr="Une image contenant texte, diagramme, capture d’écran, Tracé&#10;&#10;Le contenu généré par l’IA peut être incorrect.">
            <a:extLst>
              <a:ext uri="{FF2B5EF4-FFF2-40B4-BE49-F238E27FC236}">
                <a16:creationId xmlns:a16="http://schemas.microsoft.com/office/drawing/2014/main" id="{2A1E3AB0-0EB2-8CE5-3364-729D0B85C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040" y="311244"/>
            <a:ext cx="2707037" cy="2856483"/>
          </a:xfrm>
          <a:prstGeom prst="rect">
            <a:avLst/>
          </a:prstGeom>
        </p:spPr>
      </p:pic>
      <p:pic>
        <p:nvPicPr>
          <p:cNvPr id="15" name="Image 14" descr="Une image contenant texte, diagramme, capture d’écran, Tracé&#10;&#10;Le contenu généré par l’IA peut être incorrect.">
            <a:extLst>
              <a:ext uri="{FF2B5EF4-FFF2-40B4-BE49-F238E27FC236}">
                <a16:creationId xmlns:a16="http://schemas.microsoft.com/office/drawing/2014/main" id="{0FD4C2F9-401B-C18D-4A50-2FEFDC76E7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99" r="6319" b="813"/>
          <a:stretch>
            <a:fillRect/>
          </a:stretch>
        </p:blipFill>
        <p:spPr>
          <a:xfrm>
            <a:off x="8177040" y="3336235"/>
            <a:ext cx="2707037" cy="311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895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366D8-CD8E-BCB8-9519-9B8F4D994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9AE662-C472-AA5B-0439-38BFF234C4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3857" y="2500776"/>
            <a:ext cx="9344286" cy="1856447"/>
          </a:xfrm>
        </p:spPr>
        <p:txBody>
          <a:bodyPr/>
          <a:lstStyle/>
          <a:p>
            <a:r>
              <a:rPr lang="fr-CH" sz="5400" b="1" u="sng" dirty="0">
                <a:latin typeface="Boucherie Block" panose="02000506000000020004" pitchFamily="2" charset="77"/>
              </a:rPr>
              <a:t>Présentation des hypothèses ET RESULTATS </a:t>
            </a:r>
          </a:p>
        </p:txBody>
      </p:sp>
    </p:spTree>
    <p:extLst>
      <p:ext uri="{BB962C8B-B14F-4D97-AF65-F5344CB8AC3E}">
        <p14:creationId xmlns:p14="http://schemas.microsoft.com/office/powerpoint/2010/main" val="3080415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DCFCDD-675E-9FBE-499A-D6D25112E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87" y="297667"/>
            <a:ext cx="9601200" cy="1288523"/>
          </a:xfrm>
        </p:spPr>
        <p:txBody>
          <a:bodyPr>
            <a:normAutofit fontScale="90000"/>
          </a:bodyPr>
          <a:lstStyle/>
          <a:p>
            <a:r>
              <a:rPr lang="fr-CH" b="1" u="sng" dirty="0">
                <a:latin typeface="Boucherie Block" panose="02000506000000020004" pitchFamily="2" charset="77"/>
              </a:rPr>
              <a:t>Hypothèse 1</a:t>
            </a:r>
            <a:r>
              <a:rPr lang="fr-CH" dirty="0">
                <a:latin typeface="Boucherie Block" panose="02000506000000020004" pitchFamily="2" charset="77"/>
              </a:rPr>
              <a:t>:  </a:t>
            </a:r>
            <a:r>
              <a:rPr lang="fr-FR" altLang="fr-FR" dirty="0">
                <a:solidFill>
                  <a:schemeClr val="tx1"/>
                </a:solidFill>
                <a:latin typeface="Boucherie Block" panose="02000506000000020004" pitchFamily="2" charset="77"/>
              </a:rPr>
              <a:t>Le niveau moyen d’IMC est-il supérieur à la moyenne mondiale ?</a:t>
            </a:r>
            <a:endParaRPr lang="fr-FR" dirty="0">
              <a:latin typeface="Boucherie Block" panose="02000506000000020004" pitchFamily="2" charset="7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F6262D84-B477-C216-6ADE-C334C72809C2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1343303" y="2288785"/>
                <a:ext cx="8815701" cy="27699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383540" marR="0" lvl="0" indent="-38354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Char char="§"/>
                  <a:tabLst/>
                </a:pPr>
                <a:r>
                  <a:rPr kumimoji="0" lang="fr-FR" altLang="fr-FR" sz="2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Hebrew" pitchFamily="2" charset="-79"/>
                    <a:cs typeface="Arial Hebrew" pitchFamily="2" charset="-79"/>
                  </a:rPr>
                  <a:t>H₀</a:t>
                </a:r>
                <a:r>
                  <a:rPr kumimoji="0" lang="fr-FR" altLang="fr-FR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Hebrew" pitchFamily="2" charset="-79"/>
                    <a:cs typeface="Arial Hebrew" pitchFamily="2" charset="-79"/>
                  </a:rPr>
                  <a:t> : IMC moyen = 3</a:t>
                </a:r>
                <a:endParaRPr lang="fr-FR" dirty="0">
                  <a:solidFill>
                    <a:schemeClr val="tx1"/>
                  </a:solidFill>
                  <a:latin typeface="Arial Hebrew" pitchFamily="2" charset="-79"/>
                  <a:cs typeface="Arial Hebrew" pitchFamily="2" charset="-79"/>
                </a:endParaRPr>
              </a:p>
              <a:p>
                <a:pPr marL="383540" marR="0" lvl="0" indent="-38354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Char char="§"/>
                  <a:tabLst/>
                </a:pPr>
                <a:r>
                  <a:rPr kumimoji="0" lang="fr-FR" altLang="fr-FR" sz="2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Hebrew" pitchFamily="2" charset="-79"/>
                    <a:cs typeface="Arial Hebrew" pitchFamily="2" charset="-79"/>
                  </a:rPr>
                  <a:t>H₁</a:t>
                </a:r>
                <a:r>
                  <a:rPr kumimoji="0" lang="fr-FR" altLang="fr-FR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Hebrew" pitchFamily="2" charset="-79"/>
                    <a:cs typeface="Arial Hebrew" pitchFamily="2" charset="-79"/>
                  </a:rPr>
                  <a:t> : IMC moyen &gt; 3</a:t>
                </a:r>
              </a:p>
              <a:p>
                <a:pPr marL="383540" marR="0" lvl="0" indent="-38354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Char char="§"/>
                  <a:tabLst/>
                </a:pPr>
                <a:endParaRPr lang="fr-FR" altLang="fr-FR" sz="2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Hebrew" pitchFamily="2" charset="-79"/>
                  <a:cs typeface="Arial Hebrew" pitchFamily="2" charset="-79"/>
                </a:endParaRPr>
              </a:p>
              <a:p>
                <a:pPr marL="383540" marR="0" lvl="0" indent="-38354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Char char="§"/>
                  <a:tabLst/>
                </a:pPr>
                <a:endParaRPr lang="fr-FR" altLang="fr-FR" sz="2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Hebrew" pitchFamily="2" charset="-79"/>
                  <a:cs typeface="Arial Hebrew" pitchFamily="2" charset="-79"/>
                </a:endParaRPr>
              </a:p>
              <a:p>
                <a:pPr marL="383540" marR="0" lvl="0" indent="-38354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Char char="§"/>
                  <a:tabLst/>
                </a:pPr>
                <a:r>
                  <a:rPr kumimoji="0" lang="fr-FR" altLang="fr-FR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Hebrew" pitchFamily="2" charset="-79"/>
                    <a:cs typeface="Arial Hebrew" pitchFamily="2" charset="-79"/>
                  </a:rPr>
                  <a:t>IMC moyen observé : </a:t>
                </a:r>
                <a:r>
                  <a:rPr kumimoji="0" lang="fr-FR" altLang="fr-FR" sz="2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Hebrew" pitchFamily="2" charset="-79"/>
                    <a:cs typeface="Arial Hebrew" pitchFamily="2" charset="-79"/>
                  </a:rPr>
                  <a:t>4,32</a:t>
                </a:r>
                <a:endParaRPr lang="fr-FR" altLang="fr-FR" sz="2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Hebrew" pitchFamily="2" charset="-79"/>
                  <a:cs typeface="Arial Hebrew" pitchFamily="2" charset="-79"/>
                </a:endParaRPr>
              </a:p>
              <a:p>
                <a:pPr marL="383540" indent="-38354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itchFamily="2" charset="2"/>
                  <a:buChar char="§"/>
                </a:pPr>
                <a:r>
                  <a:rPr kumimoji="0" lang="fr-FR" altLang="fr-FR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Hebrew" pitchFamily="2" charset="-79"/>
                    <a:cs typeface="Arial Hebrew" pitchFamily="2" charset="-79"/>
                  </a:rPr>
                  <a:t>p-value: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fr-FR" altLang="fr-FR" sz="22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 Hebrew" pitchFamily="2" charset="-79"/>
                          </a:rPr>
                        </m:ctrlPr>
                      </m:sSupPr>
                      <m:e>
                        <m:r>
                          <a:rPr kumimoji="0" lang="fr-CH" altLang="fr-FR" sz="22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 Hebrew" pitchFamily="2" charset="-79"/>
                          </a:rPr>
                          <m:t>10</m:t>
                        </m:r>
                      </m:e>
                      <m:sup>
                        <m:r>
                          <a:rPr kumimoji="0" lang="fr-CH" altLang="fr-FR" sz="22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 Hebrew" pitchFamily="2" charset="-79"/>
                          </a:rPr>
                          <m:t>−90</m:t>
                        </m:r>
                      </m:sup>
                    </m:sSup>
                  </m:oMath>
                </a14:m>
                <a:r>
                  <a:rPr kumimoji="0" lang="fr-FR" altLang="fr-FR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Hebrew" pitchFamily="2" charset="-79"/>
                    <a:cs typeface="Arial Hebrew" pitchFamily="2" charset="-79"/>
                  </a:rPr>
                  <a:t>&lt; 0.05 → </a:t>
                </a:r>
                <a:r>
                  <a:rPr kumimoji="0" lang="fr-FR" altLang="fr-FR" sz="2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Hebrew" pitchFamily="2" charset="-79"/>
                    <a:cs typeface="Arial Hebrew" pitchFamily="2" charset="-79"/>
                  </a:rPr>
                  <a:t>rejet de H₀</a:t>
                </a:r>
                <a:endParaRPr lang="fr-FR" altLang="fr-FR" sz="2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Hebrew" pitchFamily="2" charset="-79"/>
                  <a:cs typeface="Arial Hebrew" pitchFamily="2" charset="-79"/>
                </a:endParaRPr>
              </a:p>
              <a:p>
                <a:pPr marL="383540" indent="-38354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itchFamily="2" charset="2"/>
                  <a:buChar char="§"/>
                </a:pPr>
                <a:r>
                  <a:rPr lang="fr-CH" sz="2200" b="1" dirty="0">
                    <a:latin typeface="Arial Hebrew" pitchFamily="2" charset="-79"/>
                    <a:cs typeface="Arial Hebrew" pitchFamily="2" charset="-79"/>
                  </a:rPr>
                  <a:t>Intervalle de confiance à 95 %</a:t>
                </a:r>
                <a:r>
                  <a:rPr lang="fr-CH" sz="2200" dirty="0">
                    <a:latin typeface="Arial Hebrew" pitchFamily="2" charset="-79"/>
                    <a:cs typeface="Arial Hebrew" pitchFamily="2" charset="-79"/>
                  </a:rPr>
                  <a:t> :</a:t>
                </a:r>
                <a:br>
                  <a:rPr lang="fr-CH" sz="2200" dirty="0">
                    <a:latin typeface="Arial Hebrew" pitchFamily="2" charset="-79"/>
                    <a:cs typeface="Arial Hebrew" pitchFamily="2" charset="-79"/>
                  </a:rPr>
                </a:br>
                <a:r>
                  <a:rPr lang="fr-CH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[4.26,4.38]</a:t>
                </a:r>
              </a:p>
            </p:txBody>
          </p:sp>
        </mc:Choice>
        <mc:Fallback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F6262D84-B477-C216-6ADE-C334C72809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1343303" y="2288785"/>
                <a:ext cx="8815701" cy="2769989"/>
              </a:xfrm>
              <a:prstGeom prst="rect">
                <a:avLst/>
              </a:prstGeom>
              <a:blipFill>
                <a:blip r:embed="rId2"/>
                <a:stretch>
                  <a:fillRect l="-718" t="-1826" b="-365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6623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315C3-5B24-2C7D-2FBE-E78773A21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2B1485-8F9D-EBEC-A878-FFE5F76E8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87" y="408990"/>
            <a:ext cx="9601200" cy="1288523"/>
          </a:xfrm>
        </p:spPr>
        <p:txBody>
          <a:bodyPr>
            <a:normAutofit fontScale="90000"/>
          </a:bodyPr>
          <a:lstStyle/>
          <a:p>
            <a:r>
              <a:rPr lang="fr-CH" b="1" u="sng" dirty="0">
                <a:latin typeface="Boucherie Block" panose="02000506000000020004" pitchFamily="2" charset="77"/>
              </a:rPr>
              <a:t>Hypothèse 2</a:t>
            </a:r>
            <a:r>
              <a:rPr lang="fr-CH" dirty="0">
                <a:latin typeface="Boucherie Block" panose="02000506000000020004" pitchFamily="2" charset="77"/>
              </a:rPr>
              <a:t>:  </a:t>
            </a:r>
            <a:r>
              <a:rPr lang="fr-FR" altLang="fr-FR" dirty="0">
                <a:solidFill>
                  <a:schemeClr val="tx1"/>
                </a:solidFill>
                <a:latin typeface="Boucherie Block"/>
              </a:rPr>
              <a:t>L’âge moyen diffère-t-il entre femmes obèses et non obèses ?</a:t>
            </a:r>
            <a:br>
              <a:rPr lang="fr-FR" altLang="fr-FR" dirty="0">
                <a:latin typeface="Arial" panose="020B0604020202020204" pitchFamily="34" charset="0"/>
              </a:rPr>
            </a:br>
            <a:endParaRPr lang="fr-FR" dirty="0">
              <a:latin typeface="Boucherie Block" panose="02000506000000020004" pitchFamily="2" charset="7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CDB6F5BE-4E6B-76EB-DD72-89FA8CBF0F6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1399919" y="2556906"/>
                <a:ext cx="9154368" cy="28684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383540" indent="-383540">
                  <a:buFont typeface="Wingdings" panose="020B0503020102020204" pitchFamily="34" charset="0"/>
                  <a:buChar char="§"/>
                </a:pPr>
                <a:r>
                  <a:rPr lang="fr-CH" b="1" dirty="0">
                    <a:latin typeface="Arial"/>
                    <a:cs typeface="Arial Hebrew"/>
                  </a:rPr>
                  <a:t>H₀</a:t>
                </a:r>
                <a:r>
                  <a:rPr lang="fr-CH" dirty="0">
                    <a:latin typeface="Arial"/>
                    <a:cs typeface="Arial Hebrew"/>
                  </a:rPr>
                  <a:t> : âge moyen identique = 0</a:t>
                </a:r>
                <a:br>
                  <a:rPr lang="fr-CH" dirty="0">
                    <a:latin typeface="Arial"/>
                    <a:cs typeface="Arial Hebrew"/>
                  </a:rPr>
                </a:br>
                <a:r>
                  <a:rPr lang="fr-CH" b="1" dirty="0">
                    <a:latin typeface="Arial"/>
                    <a:cs typeface="Arial Hebrew"/>
                  </a:rPr>
                  <a:t>H₁</a:t>
                </a:r>
                <a:r>
                  <a:rPr lang="fr-CH" dirty="0">
                    <a:latin typeface="Arial"/>
                    <a:cs typeface="Arial Hebrew"/>
                  </a:rPr>
                  <a:t> : âge moyen différent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fr-FR" dirty="0">
                    <a:latin typeface="Arial"/>
                    <a:cs typeface="Arial Hebrew"/>
                  </a:rPr>
                  <a:t> 0</a:t>
                </a:r>
              </a:p>
              <a:p>
                <a:pPr marL="383540" indent="-383540">
                  <a:buFont typeface="Wingdings" panose="020B0503020102020204" pitchFamily="34" charset="0"/>
                  <a:buChar char="§"/>
                </a:pPr>
                <a:endParaRPr lang="fr-CH" b="1" dirty="0">
                  <a:latin typeface="Arial"/>
                  <a:cs typeface="Arial Hebrew"/>
                </a:endParaRPr>
              </a:p>
              <a:p>
                <a:pPr marL="383540" indent="-383540">
                  <a:buFont typeface="Wingdings" panose="020B0503020102020204" pitchFamily="34" charset="0"/>
                  <a:buChar char="§"/>
                </a:pPr>
                <a:endParaRPr lang="fr-CH" b="1" dirty="0">
                  <a:latin typeface="Arial"/>
                  <a:cs typeface="Arial Hebrew"/>
                </a:endParaRPr>
              </a:p>
              <a:p>
                <a:pPr marL="383540" indent="-383540">
                  <a:buFont typeface="Wingdings" panose="020B0503020102020204" pitchFamily="34" charset="0"/>
                  <a:buChar char="§"/>
                </a:pPr>
                <a:r>
                  <a:rPr lang="fr-CH" b="1" dirty="0">
                    <a:latin typeface="Arial"/>
                    <a:cs typeface="Arial Hebrew"/>
                  </a:rPr>
                  <a:t>Différence observée :</a:t>
                </a:r>
                <a:r>
                  <a:rPr lang="fr-CH" dirty="0">
                    <a:latin typeface="Arial"/>
                    <a:cs typeface="Arial Hebrew"/>
                  </a:rPr>
                  <a:t> </a:t>
                </a:r>
                <a:r>
                  <a:rPr lang="fr-CH" b="1" dirty="0">
                    <a:latin typeface="Arial"/>
                    <a:cs typeface="Arial Hebrew"/>
                  </a:rPr>
                  <a:t>+3,8 ans</a:t>
                </a:r>
                <a:br>
                  <a:rPr lang="fr-CH" dirty="0">
                    <a:latin typeface="Arial"/>
                    <a:cs typeface="Arial Hebrew" pitchFamily="2" charset="-79"/>
                  </a:rPr>
                </a:br>
                <a:r>
                  <a:rPr lang="fr-CH" b="1" dirty="0">
                    <a:latin typeface="Arial"/>
                    <a:cs typeface="Arial Hebrew"/>
                  </a:rPr>
                  <a:t>p-value: </a:t>
                </a:r>
                <a:r>
                  <a:rPr lang="fr-CH" dirty="0">
                    <a:latin typeface="Arial"/>
                    <a:cs typeface="Arial Hebrew"/>
                  </a:rPr>
                  <a:t>environ 0.0000001 &lt; 0.05 → </a:t>
                </a:r>
                <a:r>
                  <a:rPr lang="fr-CH" b="1" dirty="0">
                    <a:latin typeface="Arial"/>
                    <a:cs typeface="Arial Hebrew"/>
                  </a:rPr>
                  <a:t>rejet de H₀</a:t>
                </a:r>
                <a:br>
                  <a:rPr lang="fr-CH" b="1" dirty="0">
                    <a:latin typeface="Arial"/>
                    <a:cs typeface="Arial Hebrew" pitchFamily="2" charset="-79"/>
                  </a:rPr>
                </a:br>
                <a:r>
                  <a:rPr lang="fr-CH" b="1" dirty="0">
                    <a:latin typeface="Arial"/>
                    <a:cs typeface="Arial Hebrew"/>
                  </a:rPr>
                  <a:t>Intervalle de confiance à 95 % :</a:t>
                </a:r>
                <a:br>
                  <a:rPr lang="fr-CH" b="1" dirty="0">
                    <a:latin typeface="Arial"/>
                    <a:cs typeface="Arial Hebrew" pitchFamily="2" charset="-79"/>
                  </a:rPr>
                </a:br>
                <a:r>
                  <a:rPr lang="fr-CH" b="1" dirty="0">
                    <a:latin typeface="Arial"/>
                    <a:cs typeface="Arial Hebrew"/>
                  </a:rPr>
                  <a:t> [3.08, 4.52]</a:t>
                </a:r>
              </a:p>
            </p:txBody>
          </p:sp>
        </mc:Choice>
        <mc:Fallback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CDB6F5BE-4E6B-76EB-DD72-89FA8CBF0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1399919" y="2556906"/>
                <a:ext cx="9154368" cy="2868478"/>
              </a:xfrm>
              <a:prstGeom prst="rect">
                <a:avLst/>
              </a:prstGeom>
              <a:blipFill>
                <a:blip r:embed="rId2"/>
                <a:stretch>
                  <a:fillRect l="-555" t="-1762" b="-352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4666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70D7D-5AE8-BFBF-0C21-BEDEF8692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27F33B-7488-B815-94C4-D59FA01F6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664" y="391224"/>
            <a:ext cx="10306584" cy="1288523"/>
          </a:xfrm>
        </p:spPr>
        <p:txBody>
          <a:bodyPr>
            <a:normAutofit fontScale="90000"/>
          </a:bodyPr>
          <a:lstStyle/>
          <a:p>
            <a:r>
              <a:rPr lang="fr-CH" b="1" u="sng" dirty="0">
                <a:latin typeface="Boucherie Block" panose="02000506000000020004" pitchFamily="2" charset="77"/>
              </a:rPr>
              <a:t>Hypothèse 3</a:t>
            </a:r>
            <a:r>
              <a:rPr lang="fr-CH" dirty="0">
                <a:latin typeface="Boucherie Block" panose="02000506000000020004" pitchFamily="2" charset="77"/>
              </a:rPr>
              <a:t>:  L’ACTIVITÉ PHYSIQUE EST-ELLE PLUS FAIBLE CHEZ LES FEMMES OBÈSES ?</a:t>
            </a:r>
            <a:endParaRPr lang="fr-FR" dirty="0">
              <a:latin typeface="Boucherie Block" panose="02000506000000020004" pitchFamily="2" charset="7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EB908F55-9329-C284-5D13-E76956CD8660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931664" y="2726307"/>
                <a:ext cx="11260336" cy="26327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383540" indent="-383540">
                  <a:buFont typeface="Wingdings" panose="020B0503020102020204" pitchFamily="34" charset="0"/>
                  <a:buChar char="§"/>
                </a:pPr>
                <a:r>
                  <a:rPr lang="fr-CH" sz="2200" dirty="0">
                    <a:latin typeface="Arial Hebrew" pitchFamily="2" charset="-79"/>
                    <a:cs typeface="Arial Hebrew"/>
                  </a:rPr>
                  <a:t> </a:t>
                </a:r>
                <a:r>
                  <a:rPr lang="fr-CH" sz="2200" b="1" dirty="0">
                    <a:latin typeface="Arial Hebrew" pitchFamily="2" charset="-79"/>
                    <a:cs typeface="Arial Hebrew"/>
                  </a:rPr>
                  <a:t>H₀</a:t>
                </a:r>
                <a:r>
                  <a:rPr lang="fr-CH" sz="2200" dirty="0">
                    <a:latin typeface="Arial Hebrew" pitchFamily="2" charset="-79"/>
                    <a:cs typeface="Arial Hebrew"/>
                  </a:rPr>
                  <a:t> : même niveau d’activité physique = 0</a:t>
                </a:r>
                <a:br>
                  <a:rPr lang="fr-CH" sz="2200" dirty="0">
                    <a:latin typeface="Arial Hebrew" pitchFamily="2" charset="-79"/>
                    <a:cs typeface="Arial Hebrew" pitchFamily="2" charset="-79"/>
                  </a:rPr>
                </a:br>
                <a:r>
                  <a:rPr lang="fr-CH" sz="2200" dirty="0">
                    <a:latin typeface="Arial Hebrew" pitchFamily="2" charset="-79"/>
                    <a:cs typeface="Arial Hebrew"/>
                  </a:rPr>
                  <a:t> </a:t>
                </a:r>
                <a:r>
                  <a:rPr lang="fr-CH" sz="2200" b="1" dirty="0">
                    <a:latin typeface="Arial Hebrew" pitchFamily="2" charset="-79"/>
                    <a:cs typeface="Arial Hebrew"/>
                  </a:rPr>
                  <a:t>H₁</a:t>
                </a:r>
                <a:r>
                  <a:rPr lang="fr-CH" sz="2200" dirty="0">
                    <a:latin typeface="Arial Hebrew" pitchFamily="2" charset="-79"/>
                    <a:cs typeface="Arial Hebrew"/>
                  </a:rPr>
                  <a:t> : activité physique plus faible chez les femmes obèses &lt; 0</a:t>
                </a:r>
                <a:endParaRPr lang="fr-FR" sz="2200" dirty="0">
                  <a:cs typeface="Arial Hebrew"/>
                </a:endParaRPr>
              </a:p>
              <a:p>
                <a:pPr marL="383540" indent="-383540">
                  <a:buFont typeface="Wingdings" panose="020B0503020102020204" pitchFamily="34" charset="0"/>
                  <a:buChar char="§"/>
                </a:pPr>
                <a:endParaRPr lang="fr-CH" sz="2200" b="1" dirty="0">
                  <a:latin typeface="Arial Hebrew" pitchFamily="2" charset="-79"/>
                  <a:cs typeface="Arial Hebrew"/>
                </a:endParaRPr>
              </a:p>
              <a:p>
                <a:pPr marL="383540" indent="-383540">
                  <a:buFont typeface="Wingdings" panose="020B0503020102020204" pitchFamily="34" charset="0"/>
                  <a:buChar char="§"/>
                </a:pPr>
                <a:r>
                  <a:rPr lang="fr-CH" sz="2200" b="1" dirty="0">
                    <a:latin typeface="Arial Hebrew" pitchFamily="2" charset="-79"/>
                    <a:cs typeface="Arial Hebrew"/>
                  </a:rPr>
                  <a:t>Différence observée</a:t>
                </a:r>
                <a:r>
                  <a:rPr lang="fr-CH" sz="2200" dirty="0">
                    <a:latin typeface="Arial Hebrew" pitchFamily="2" charset="-79"/>
                    <a:cs typeface="Arial Hebrew"/>
                  </a:rPr>
                  <a:t> : </a:t>
                </a:r>
                <a:r>
                  <a:rPr lang="fr-CH" sz="2200" b="1" dirty="0">
                    <a:latin typeface="Arial Hebrew" pitchFamily="2" charset="-79"/>
                    <a:cs typeface="Arial Hebrew"/>
                  </a:rPr>
                  <a:t>–0,35</a:t>
                </a:r>
                <a:br>
                  <a:rPr lang="fr-CH" sz="2200" dirty="0">
                    <a:latin typeface="Arial Hebrew" pitchFamily="2" charset="-79"/>
                    <a:cs typeface="Arial Hebrew" pitchFamily="2" charset="-79"/>
                  </a:rPr>
                </a:br>
                <a:r>
                  <a:rPr lang="fr-CH" sz="2200" dirty="0">
                    <a:latin typeface="Arial Hebrew" pitchFamily="2" charset="-79"/>
                    <a:cs typeface="Arial Hebrew"/>
                  </a:rPr>
                  <a:t> </a:t>
                </a:r>
                <a:r>
                  <a:rPr lang="fr-CH" sz="2200" b="1" dirty="0">
                    <a:latin typeface="Arial Hebrew" pitchFamily="2" charset="-79"/>
                    <a:cs typeface="Arial Hebrew"/>
                  </a:rPr>
                  <a:t>p-value </a:t>
                </a:r>
                <a14:m>
                  <m:oMath xmlns:m="http://schemas.openxmlformats.org/officeDocument/2006/math">
                    <m:r>
                      <a:rPr lang="fr-CH" sz="2200" b="1" i="1" smtClean="0">
                        <a:latin typeface="Cambria Math" panose="02040503050406030204" pitchFamily="18" charset="0"/>
                        <a:cs typeface="Arial Hebrew"/>
                      </a:rPr>
                      <m:t>: </m:t>
                    </m:r>
                    <m:sSup>
                      <m:sSupPr>
                        <m:ctrlPr>
                          <a:rPr lang="fr-CH" sz="2200" i="1" smtClean="0">
                            <a:latin typeface="Cambria Math" panose="02040503050406030204" pitchFamily="18" charset="0"/>
                            <a:cs typeface="Arial Hebrew"/>
                          </a:rPr>
                        </m:ctrlPr>
                      </m:sSupPr>
                      <m:e>
                        <m:r>
                          <a:rPr lang="fr-CH" sz="2200" b="0" i="1" smtClean="0">
                            <a:latin typeface="Cambria Math" panose="02040503050406030204" pitchFamily="18" charset="0"/>
                            <a:cs typeface="Arial Hebrew"/>
                          </a:rPr>
                          <m:t>1,36 </m:t>
                        </m:r>
                        <m:r>
                          <a:rPr lang="fr-CH" sz="2200" b="0" i="1" smtClean="0">
                            <a:latin typeface="Cambria Math" panose="02040503050406030204" pitchFamily="18" charset="0"/>
                            <a:cs typeface="Arial Hebrew"/>
                          </a:rPr>
                          <m:t>𝑥</m:t>
                        </m:r>
                        <m:r>
                          <a:rPr lang="fr-CH" sz="2200" b="0" i="1" smtClean="0">
                            <a:latin typeface="Cambria Math" panose="02040503050406030204" pitchFamily="18" charset="0"/>
                            <a:cs typeface="Arial Hebrew"/>
                          </a:rPr>
                          <m:t> 10</m:t>
                        </m:r>
                      </m:e>
                      <m:sup>
                        <m:r>
                          <a:rPr lang="fr-CH" sz="2200" b="0" i="1" smtClean="0">
                            <a:latin typeface="Cambria Math" panose="02040503050406030204" pitchFamily="18" charset="0"/>
                            <a:cs typeface="Arial Hebrew"/>
                          </a:rPr>
                          <m:t>−9</m:t>
                        </m:r>
                      </m:sup>
                    </m:sSup>
                  </m:oMath>
                </a14:m>
                <a:r>
                  <a:rPr lang="fr-CH" sz="2200" dirty="0">
                    <a:latin typeface="Arial Hebrew" pitchFamily="2" charset="-79"/>
                    <a:cs typeface="Arial Hebrew"/>
                  </a:rPr>
                  <a:t> &lt; 0.05 → </a:t>
                </a:r>
                <a:r>
                  <a:rPr lang="fr-CH" sz="2200" b="1" dirty="0">
                    <a:latin typeface="Arial Hebrew" pitchFamily="2" charset="-79"/>
                    <a:cs typeface="Arial Hebrew"/>
                  </a:rPr>
                  <a:t>rejet de H₀</a:t>
                </a:r>
                <a:br>
                  <a:rPr lang="fr-CH" sz="2200" dirty="0">
                    <a:latin typeface="Arial Hebrew" pitchFamily="2" charset="-79"/>
                    <a:cs typeface="Arial Hebrew" pitchFamily="2" charset="-79"/>
                  </a:rPr>
                </a:br>
                <a:r>
                  <a:rPr lang="fr-CH" sz="2200" dirty="0">
                    <a:latin typeface="Arial Hebrew" pitchFamily="2" charset="-79"/>
                    <a:cs typeface="Arial Hebrew"/>
                  </a:rPr>
                  <a:t> </a:t>
                </a:r>
                <a:r>
                  <a:rPr lang="fr-CH" sz="2200" b="1" dirty="0">
                    <a:latin typeface="Arial Hebrew" pitchFamily="2" charset="-79"/>
                    <a:cs typeface="Arial Hebrew"/>
                  </a:rPr>
                  <a:t>Intervalle de confiance à 95 %</a:t>
                </a:r>
                <a:r>
                  <a:rPr lang="fr-CH" sz="2200" dirty="0">
                    <a:latin typeface="Arial Hebrew" pitchFamily="2" charset="-79"/>
                    <a:cs typeface="Arial Hebrew"/>
                  </a:rPr>
                  <a:t> :</a:t>
                </a:r>
                <a:br>
                  <a:rPr lang="fr-CH" sz="2200" dirty="0">
                    <a:latin typeface="Arial Hebrew" pitchFamily="2" charset="-79"/>
                    <a:cs typeface="Arial Hebrew" pitchFamily="2" charset="-79"/>
                  </a:rPr>
                </a:br>
                <a:r>
                  <a:rPr lang="fr-CH" sz="2200" dirty="0">
                    <a:latin typeface="Arial Hebrew" pitchFamily="2" charset="-79"/>
                    <a:cs typeface="Arial Hebrew"/>
                  </a:rPr>
                  <a:t> </a:t>
                </a:r>
                <a:r>
                  <a:rPr lang="fr-CH" sz="2200" b="1" dirty="0">
                    <a:latin typeface="Arial Hebrew" pitchFamily="2" charset="-79"/>
                    <a:cs typeface="Arial Hebrew"/>
                  </a:rPr>
                  <a:t>[–0,465 ; –0,235]</a:t>
                </a:r>
              </a:p>
            </p:txBody>
          </p:sp>
        </mc:Choice>
        <mc:Fallback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EB908F55-9329-C284-5D13-E76956CD86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931664" y="2726307"/>
                <a:ext cx="11260336" cy="2632772"/>
              </a:xfrm>
              <a:prstGeom prst="rect">
                <a:avLst/>
              </a:prstGeom>
              <a:blipFill>
                <a:blip r:embed="rId2"/>
                <a:stretch>
                  <a:fillRect l="-563" t="-2404" b="-480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4432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8681F-52E2-1440-9131-A6E3399CB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4ABF97-81BF-65B4-177E-D5CA9B67C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3857" y="1163044"/>
            <a:ext cx="9344286" cy="928223"/>
          </a:xfrm>
        </p:spPr>
        <p:txBody>
          <a:bodyPr/>
          <a:lstStyle/>
          <a:p>
            <a:r>
              <a:rPr lang="fr-CH" sz="5400" b="1" u="sng" dirty="0">
                <a:latin typeface="Boucherie Block"/>
              </a:rPr>
              <a:t>CONCLUSION </a:t>
            </a:r>
            <a:endParaRPr lang="fr-CH" sz="5400" b="1" u="sng" dirty="0">
              <a:latin typeface="Boucherie Block" panose="02000506000000020004" pitchFamily="2" charset="77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5FDD376-619D-8B61-9608-5B3AE080E6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3857" y="2091268"/>
            <a:ext cx="8956276" cy="267546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342900" indent="-342900">
              <a:buFont typeface="Wingdings" pitchFamily="2" charset="2"/>
              <a:buChar char="§"/>
            </a:pPr>
            <a:endParaRPr lang="fr-FR" sz="2400" dirty="0">
              <a:latin typeface="Arial Hebrew" pitchFamily="2" charset="-79"/>
              <a:cs typeface="Arial Hebrew" pitchFamily="2" charset="-79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fr-FR" sz="2400" dirty="0">
                <a:latin typeface="Arial Hebrew" pitchFamily="2" charset="-79"/>
                <a:cs typeface="Arial Hebrew"/>
              </a:rPr>
              <a:t>La population des habitantes d’Amérique Latine, a un niveau </a:t>
            </a:r>
            <a:r>
              <a:rPr lang="fr-FR" sz="2400" dirty="0" err="1">
                <a:latin typeface="Arial Hebrew" pitchFamily="2" charset="-79"/>
                <a:cs typeface="Arial Hebrew"/>
              </a:rPr>
              <a:t>d’imc</a:t>
            </a:r>
            <a:r>
              <a:rPr lang="fr-FR" sz="2400" dirty="0">
                <a:latin typeface="Arial Hebrew" pitchFamily="2" charset="-79"/>
                <a:cs typeface="Arial Hebrew"/>
              </a:rPr>
              <a:t> beaucoup plus élevé de celui des femmes du reste du monde </a:t>
            </a:r>
            <a:r>
              <a:rPr lang="fr-FR" sz="2400">
                <a:latin typeface="Arial Hebrew" pitchFamily="2" charset="-79"/>
                <a:cs typeface="Arial Hebrew"/>
              </a:rPr>
              <a:t>.</a:t>
            </a:r>
            <a:endParaRPr lang="fr-FR" sz="2400" dirty="0">
              <a:latin typeface="Arial Hebrew" pitchFamily="2" charset="-79"/>
              <a:cs typeface="Arial Hebrew"/>
            </a:endParaRPr>
          </a:p>
          <a:p>
            <a:endParaRPr lang="fr-FR" sz="2400" dirty="0">
              <a:latin typeface="Arial Hebrew" pitchFamily="2" charset="-79"/>
              <a:cs typeface="Arial Hebrew" pitchFamily="2" charset="-79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fr-FR" sz="2400">
                <a:latin typeface="Arial Hebrew" pitchFamily="2" charset="-79"/>
                <a:cs typeface="Arial Hebrew"/>
              </a:rPr>
              <a:t>Les femmes en situation d’obésité sont plus âgées que les femmes non obèses. </a:t>
            </a:r>
          </a:p>
          <a:p>
            <a:pPr marL="342900" indent="-342900">
              <a:buFont typeface="Wingdings" pitchFamily="2" charset="2"/>
              <a:buChar char="§"/>
            </a:pPr>
            <a:endParaRPr lang="fr-FR" sz="2400" dirty="0">
              <a:latin typeface="Arial Hebrew" pitchFamily="2" charset="-79"/>
              <a:cs typeface="Arial Hebrew" pitchFamily="2" charset="-79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fr-FR" sz="2400" dirty="0">
                <a:latin typeface="Arial Hebrew" pitchFamily="2" charset="-79"/>
                <a:cs typeface="Arial Hebrew" pitchFamily="2" charset="-79"/>
              </a:rPr>
              <a:t>Les femmes avec de l’obésité ont un niveau d’activité physique plus faible que les femmes non obèses. </a:t>
            </a:r>
          </a:p>
          <a:p>
            <a:pPr marL="342900" indent="-342900">
              <a:buFont typeface="Wingdings" pitchFamily="2" charset="2"/>
              <a:buChar char="§"/>
            </a:pPr>
            <a:endParaRPr lang="fr-FR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5958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06D48-7F1A-2677-2EDF-8E2C24C82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11B990-1B13-2397-4BC9-AC289C0888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3857" y="1163044"/>
            <a:ext cx="9344286" cy="928223"/>
          </a:xfrm>
        </p:spPr>
        <p:txBody>
          <a:bodyPr/>
          <a:lstStyle/>
          <a:p>
            <a:r>
              <a:rPr lang="fr-CH" sz="5400" b="1" u="sng">
                <a:latin typeface="Boucherie Block"/>
              </a:rPr>
              <a:t>LIMITES</a:t>
            </a:r>
            <a:endParaRPr lang="fr-CH" sz="5400" b="1" u="sng">
              <a:latin typeface="Boucherie Block" panose="02000506000000020004" pitchFamily="2" charset="77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27131F3-6CE7-22F2-AC90-6BF7CCE8B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3857" y="2248506"/>
            <a:ext cx="9536847" cy="26754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Wingdings" pitchFamily="2" charset="2"/>
              <a:buChar char="§"/>
            </a:pPr>
            <a:endParaRPr lang="fr-FR" sz="2400">
              <a:latin typeface="Arial Hebrew" pitchFamily="2" charset="-79"/>
              <a:cs typeface="Arial Hebrew" pitchFamily="2" charset="-79"/>
            </a:endParaRPr>
          </a:p>
          <a:p>
            <a:pPr marL="342900" indent="-342900" algn="l">
              <a:buFont typeface="Wingdings" pitchFamily="2" charset="2"/>
              <a:buChar char="§"/>
            </a:pPr>
            <a:r>
              <a:rPr lang="fr-FR">
                <a:latin typeface="Arial"/>
                <a:cs typeface="Arial"/>
              </a:rPr>
              <a:t>Données non actuelles (2019 base de données et 2016 IMC moyen)</a:t>
            </a:r>
          </a:p>
          <a:p>
            <a:pPr algn="l"/>
            <a:endParaRPr lang="fr-FR">
              <a:latin typeface="Arial"/>
              <a:cs typeface="Arial"/>
            </a:endParaRPr>
          </a:p>
          <a:p>
            <a:pPr marL="342900" indent="-342900" algn="l">
              <a:buFont typeface="Wingdings" pitchFamily="2" charset="2"/>
              <a:buChar char="§"/>
            </a:pPr>
            <a:r>
              <a:rPr lang="fr-FR">
                <a:latin typeface="Arial"/>
                <a:cs typeface="Arial"/>
              </a:rPr>
              <a:t>Non prise en compte de facteurs socio-économique qui peuvent expliquer la différence entre les deux groupes </a:t>
            </a:r>
          </a:p>
          <a:p>
            <a:pPr marL="342900" indent="-342900" algn="l">
              <a:buFont typeface="Wingdings" pitchFamily="2" charset="2"/>
              <a:buChar char="§"/>
            </a:pPr>
            <a:endParaRPr lang="fr-FR">
              <a:latin typeface="Arial"/>
              <a:cs typeface="Arial"/>
            </a:endParaRPr>
          </a:p>
          <a:p>
            <a:pPr marL="342900" indent="-342900" algn="l">
              <a:buFont typeface="Wingdings" pitchFamily="2" charset="2"/>
              <a:buChar char="§"/>
            </a:pPr>
            <a:endParaRPr lang="fr-FR">
              <a:latin typeface="Arial"/>
              <a:cs typeface="Arial"/>
            </a:endParaRPr>
          </a:p>
          <a:p>
            <a:endParaRPr lang="fr-FR">
              <a:latin typeface="Arial"/>
              <a:cs typeface="Arial"/>
            </a:endParaRPr>
          </a:p>
          <a:p>
            <a:pPr marL="342900" indent="-342900">
              <a:buFont typeface="Wingdings" pitchFamily="2" charset="2"/>
              <a:buChar char="§"/>
            </a:pPr>
            <a:endParaRPr lang="fr-FR">
              <a:latin typeface="Arial"/>
              <a:cs typeface="Arial"/>
            </a:endParaRPr>
          </a:p>
          <a:p>
            <a:pPr marL="342900" indent="-342900">
              <a:buFont typeface="Wingdings" pitchFamily="2" charset="2"/>
              <a:buChar char="§"/>
            </a:pPr>
            <a:endParaRPr lang="fr-FR">
              <a:latin typeface="Arial"/>
              <a:cs typeface="Arial"/>
            </a:endParaRPr>
          </a:p>
          <a:p>
            <a:pPr marL="342900" indent="-342900">
              <a:buFont typeface="Wingdings" pitchFamily="2" charset="2"/>
              <a:buChar char="§"/>
            </a:pPr>
            <a:endParaRPr lang="fr-FR">
              <a:latin typeface="Arial"/>
              <a:cs typeface="Arial"/>
            </a:endParaRPr>
          </a:p>
          <a:p>
            <a:pPr marL="342900" indent="-342900">
              <a:buFont typeface="Wingdings" pitchFamily="2" charset="2"/>
              <a:buChar char="§"/>
            </a:pPr>
            <a:endParaRPr lang="fr-FR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5757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6CACC100-F832-24DB-7965-09696899F7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67" b="36283"/>
          <a:stretch>
            <a:fillRect/>
          </a:stretch>
        </p:blipFill>
        <p:spPr>
          <a:xfrm>
            <a:off x="0" y="0"/>
            <a:ext cx="12191980" cy="6858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CBA2BA5-DF4D-437C-9273-F945CF857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7948" y="1838152"/>
            <a:ext cx="5607908" cy="372444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4">
            <a:extLst>
              <a:ext uri="{FF2B5EF4-FFF2-40B4-BE49-F238E27FC236}">
                <a16:creationId xmlns:a16="http://schemas.microsoft.com/office/drawing/2014/main" id="{7754EA86-2D7A-4D51-B5F6-DA6349D5F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1087261" y="1405049"/>
            <a:ext cx="2131466" cy="1830903"/>
          </a:xfrm>
          <a:custGeom>
            <a:avLst/>
            <a:gdLst>
              <a:gd name="connsiteX0" fmla="*/ 2308583 w 2308583"/>
              <a:gd name="connsiteY0" fmla="*/ 1983044 h 1983044"/>
              <a:gd name="connsiteX1" fmla="*/ 462 w 2308583"/>
              <a:gd name="connsiteY1" fmla="*/ 1983044 h 1983044"/>
              <a:gd name="connsiteX2" fmla="*/ 0 w 2308583"/>
              <a:gd name="connsiteY2" fmla="*/ 1711185 h 1983044"/>
              <a:gd name="connsiteX3" fmla="*/ 2022607 w 2308583"/>
              <a:gd name="connsiteY3" fmla="*/ 1712117 h 1983044"/>
              <a:gd name="connsiteX4" fmla="*/ 2022607 w 2308583"/>
              <a:gd name="connsiteY4" fmla="*/ 0 h 1983044"/>
              <a:gd name="connsiteX5" fmla="*/ 2308583 w 2308583"/>
              <a:gd name="connsiteY5" fmla="*/ 0 h 1983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8583" h="1983044">
                <a:moveTo>
                  <a:pt x="2308583" y="1983044"/>
                </a:moveTo>
                <a:lnTo>
                  <a:pt x="462" y="1983044"/>
                </a:lnTo>
                <a:cubicBezTo>
                  <a:pt x="-462" y="1889214"/>
                  <a:pt x="923" y="1805015"/>
                  <a:pt x="0" y="1711185"/>
                </a:cubicBezTo>
                <a:lnTo>
                  <a:pt x="2022607" y="1712117"/>
                </a:lnTo>
                <a:lnTo>
                  <a:pt x="2022607" y="0"/>
                </a:lnTo>
                <a:lnTo>
                  <a:pt x="2308583" y="0"/>
                </a:lnTo>
                <a:close/>
              </a:path>
            </a:pathLst>
          </a:custGeom>
          <a:solidFill>
            <a:schemeClr val="tx1">
              <a:alpha val="7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16911CC-5D92-CFC7-D4D3-1C24A3901481}"/>
              </a:ext>
            </a:extLst>
          </p:cNvPr>
          <p:cNvSpPr txBox="1"/>
          <p:nvPr/>
        </p:nvSpPr>
        <p:spPr>
          <a:xfrm>
            <a:off x="1885958" y="3187408"/>
            <a:ext cx="4891887" cy="10259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>
                <a:solidFill>
                  <a:schemeClr val="tx2"/>
                </a:solidFill>
                <a:latin typeface="Arial"/>
                <a:ea typeface="+mj-ea"/>
                <a:cs typeface="Arial Hebrew"/>
              </a:rPr>
              <a:t>Si vous </a:t>
            </a:r>
            <a:r>
              <a:rPr lang="en-US" sz="2500" b="1" err="1">
                <a:solidFill>
                  <a:schemeClr val="tx2"/>
                </a:solidFill>
                <a:latin typeface="Arial"/>
                <a:ea typeface="+mj-ea"/>
                <a:cs typeface="Arial Hebrew"/>
              </a:rPr>
              <a:t>avez</a:t>
            </a:r>
            <a:r>
              <a:rPr lang="en-US" sz="2500" b="1">
                <a:solidFill>
                  <a:schemeClr val="tx2"/>
                </a:solidFill>
                <a:latin typeface="Arial"/>
                <a:ea typeface="+mj-ea"/>
                <a:cs typeface="Arial Hebrew"/>
              </a:rPr>
              <a:t> des questions nous </a:t>
            </a:r>
            <a:r>
              <a:rPr lang="en-US" sz="2500" b="1" err="1">
                <a:solidFill>
                  <a:schemeClr val="tx2"/>
                </a:solidFill>
                <a:latin typeface="Arial"/>
                <a:ea typeface="+mj-ea"/>
                <a:cs typeface="Arial Hebrew"/>
              </a:rPr>
              <a:t>sommes</a:t>
            </a:r>
            <a:r>
              <a:rPr lang="en-US" sz="2500" b="1">
                <a:solidFill>
                  <a:schemeClr val="tx2"/>
                </a:solidFill>
                <a:latin typeface="Arial"/>
                <a:ea typeface="+mj-ea"/>
                <a:cs typeface="Arial Hebrew"/>
              </a:rPr>
              <a:t> à </a:t>
            </a:r>
            <a:r>
              <a:rPr lang="en-US" sz="2500" b="1" err="1">
                <a:solidFill>
                  <a:schemeClr val="tx2"/>
                </a:solidFill>
                <a:latin typeface="Arial"/>
                <a:ea typeface="+mj-ea"/>
                <a:cs typeface="Arial Hebrew"/>
              </a:rPr>
              <a:t>votre</a:t>
            </a:r>
            <a:r>
              <a:rPr lang="en-US" sz="2500" b="1">
                <a:solidFill>
                  <a:schemeClr val="tx2"/>
                </a:solidFill>
                <a:latin typeface="Arial"/>
                <a:ea typeface="+mj-ea"/>
                <a:cs typeface="Arial Hebrew"/>
              </a:rPr>
              <a:t> dispositions.</a:t>
            </a:r>
          </a:p>
        </p:txBody>
      </p:sp>
    </p:spTree>
    <p:extLst>
      <p:ext uri="{BB962C8B-B14F-4D97-AF65-F5344CB8AC3E}">
        <p14:creationId xmlns:p14="http://schemas.microsoft.com/office/powerpoint/2010/main" val="19831596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adrage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Cadrage</Template>
  <TotalTime>412</TotalTime>
  <Words>554</Words>
  <Application>Microsoft Macintosh PowerPoint</Application>
  <PresentationFormat>Grand écran</PresentationFormat>
  <Paragraphs>76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0" baseType="lpstr">
      <vt:lpstr>Arial</vt:lpstr>
      <vt:lpstr>Arial Hebrew</vt:lpstr>
      <vt:lpstr>Boucherie Block</vt:lpstr>
      <vt:lpstr>Cambria Math</vt:lpstr>
      <vt:lpstr>Franklin Gothic Book</vt:lpstr>
      <vt:lpstr>Wingdings</vt:lpstr>
      <vt:lpstr>Cadrage</vt:lpstr>
      <vt:lpstr>Quel est lE STATUT d’obésité des femmes d’Amérique latine et quels facteurs sont associés à leur risque ?</vt:lpstr>
      <vt:lpstr>INTRODUCTION</vt:lpstr>
      <vt:lpstr>Recolte DE DONNÉES </vt:lpstr>
      <vt:lpstr>présentation des variables </vt:lpstr>
      <vt:lpstr>VARIABLE PRINCIPALE : niveau d’IMC (imc_level) </vt:lpstr>
      <vt:lpstr>variables ASSOCIATIVES</vt:lpstr>
      <vt:lpstr>Présentation des hypothèses ET RESULTATS </vt:lpstr>
      <vt:lpstr>Hypothèse 1:  Le niveau moyen d’IMC est-il supérieur à la moyenne mondiale ?</vt:lpstr>
      <vt:lpstr>Hypothèse 2:  L’âge moyen diffère-t-il entre femmes obèses et non obèses ? </vt:lpstr>
      <vt:lpstr>Hypothèse 3:  L’ACTIVITÉ PHYSIQUE EST-ELLE PLUS FAIBLE CHEZ LES FEMMES OBÈSES ?</vt:lpstr>
      <vt:lpstr>CONCLUSION </vt:lpstr>
      <vt:lpstr>LIMITES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the obesity status of Latin American women and which factors are associated with their risk?</dc:title>
  <dc:creator>Niamke Marie Esther</dc:creator>
  <cp:lastModifiedBy>Niamke Marie Esther</cp:lastModifiedBy>
  <cp:revision>2</cp:revision>
  <dcterms:created xsi:type="dcterms:W3CDTF">2025-12-16T11:16:20Z</dcterms:created>
  <dcterms:modified xsi:type="dcterms:W3CDTF">2025-12-16T20:50:10Z</dcterms:modified>
</cp:coreProperties>
</file>